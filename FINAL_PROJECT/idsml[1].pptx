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Garet" panose="020B0604020202020204" charset="0"/>
      <p:regular r:id="rId11"/>
    </p:embeddedFont>
    <p:embeddedFont>
      <p:font typeface="Garet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8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541691" y="4106171"/>
            <a:ext cx="13325516" cy="6662758"/>
          </a:xfrm>
          <a:custGeom>
            <a:avLst/>
            <a:gdLst/>
            <a:ahLst/>
            <a:cxnLst/>
            <a:rect l="l" t="t" r="r" b="b"/>
            <a:pathLst>
              <a:path w="13325516" h="6662758">
                <a:moveTo>
                  <a:pt x="13325516" y="0"/>
                </a:moveTo>
                <a:lnTo>
                  <a:pt x="0" y="0"/>
                </a:lnTo>
                <a:lnTo>
                  <a:pt x="0" y="6662757"/>
                </a:lnTo>
                <a:lnTo>
                  <a:pt x="13325516" y="6662757"/>
                </a:lnTo>
                <a:lnTo>
                  <a:pt x="133255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46215" y="0"/>
            <a:ext cx="4143375" cy="4143375"/>
          </a:xfrm>
          <a:custGeom>
            <a:avLst/>
            <a:gdLst/>
            <a:ahLst/>
            <a:cxnLst/>
            <a:rect l="l" t="t" r="r" b="b"/>
            <a:pathLst>
              <a:path w="4143375" h="4143375">
                <a:moveTo>
                  <a:pt x="0" y="0"/>
                </a:moveTo>
                <a:lnTo>
                  <a:pt x="4143375" y="0"/>
                </a:lnTo>
                <a:lnTo>
                  <a:pt x="4143375" y="4143375"/>
                </a:lnTo>
                <a:lnTo>
                  <a:pt x="0" y="4143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66101" y="1358417"/>
            <a:ext cx="10801852" cy="218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55"/>
              </a:lnSpc>
            </a:pPr>
            <a:r>
              <a:rPr lang="en-US" sz="12896" b="1" spc="-63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IDS WITH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66101" y="3329070"/>
            <a:ext cx="9437317" cy="392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74"/>
              </a:lnSpc>
            </a:pPr>
            <a:r>
              <a:rPr lang="en-US" sz="11267" spc="-5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Machine </a:t>
            </a:r>
          </a:p>
          <a:p>
            <a:pPr algn="l">
              <a:lnSpc>
                <a:spcPts val="15774"/>
              </a:lnSpc>
            </a:pPr>
            <a:r>
              <a:rPr lang="en-US" sz="11267" spc="-5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Learning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20836" y="8926862"/>
            <a:ext cx="2082324" cy="662875"/>
            <a:chOff x="0" y="0"/>
            <a:chExt cx="548431" cy="1745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431" cy="174584"/>
            </a:xfrm>
            <a:custGeom>
              <a:avLst/>
              <a:gdLst/>
              <a:ahLst/>
              <a:cxnLst/>
              <a:rect l="l" t="t" r="r" b="b"/>
              <a:pathLst>
                <a:path w="548431" h="174584">
                  <a:moveTo>
                    <a:pt x="87292" y="0"/>
                  </a:moveTo>
                  <a:lnTo>
                    <a:pt x="461139" y="0"/>
                  </a:lnTo>
                  <a:cubicBezTo>
                    <a:pt x="484290" y="0"/>
                    <a:pt x="506493" y="9197"/>
                    <a:pt x="522864" y="25567"/>
                  </a:cubicBezTo>
                  <a:cubicBezTo>
                    <a:pt x="539234" y="41938"/>
                    <a:pt x="548431" y="64141"/>
                    <a:pt x="548431" y="87292"/>
                  </a:cubicBezTo>
                  <a:lnTo>
                    <a:pt x="548431" y="87292"/>
                  </a:lnTo>
                  <a:cubicBezTo>
                    <a:pt x="548431" y="110444"/>
                    <a:pt x="539234" y="132647"/>
                    <a:pt x="522864" y="149017"/>
                  </a:cubicBezTo>
                  <a:cubicBezTo>
                    <a:pt x="506493" y="165388"/>
                    <a:pt x="484290" y="174584"/>
                    <a:pt x="461139" y="174584"/>
                  </a:cubicBezTo>
                  <a:lnTo>
                    <a:pt x="87292" y="174584"/>
                  </a:lnTo>
                  <a:cubicBezTo>
                    <a:pt x="64141" y="174584"/>
                    <a:pt x="41938" y="165388"/>
                    <a:pt x="25567" y="149017"/>
                  </a:cubicBezTo>
                  <a:cubicBezTo>
                    <a:pt x="9197" y="132647"/>
                    <a:pt x="0" y="110444"/>
                    <a:pt x="0" y="87292"/>
                  </a:cubicBezTo>
                  <a:lnTo>
                    <a:pt x="0" y="87292"/>
                  </a:lnTo>
                  <a:cubicBezTo>
                    <a:pt x="0" y="64141"/>
                    <a:pt x="9197" y="41938"/>
                    <a:pt x="25567" y="25567"/>
                  </a:cubicBezTo>
                  <a:cubicBezTo>
                    <a:pt x="41938" y="9197"/>
                    <a:pt x="64141" y="0"/>
                    <a:pt x="872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D9AC2">
                    <a:alpha val="100000"/>
                  </a:srgbClr>
                </a:gs>
                <a:gs pos="100000">
                  <a:srgbClr val="5039A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48431" cy="212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9004633"/>
            <a:ext cx="2266597" cy="45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</a:pPr>
            <a:r>
              <a:rPr lang="en-US" sz="2706" b="1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Batch 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6101" y="7727166"/>
            <a:ext cx="7480209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98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Aniketh Kulkarni, Shashi </a:t>
            </a:r>
            <a:r>
              <a:rPr lang="en-US" sz="2000" spc="-98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Vadhan</a:t>
            </a:r>
            <a:r>
              <a:rPr lang="en-US" sz="2000" spc="-98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, Mohd Mustaneer Nabeel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200" y="8153889"/>
            <a:ext cx="601582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98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1DT22IC004, 1DT22IC024, 1DT22IC025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14714" y="-988572"/>
            <a:ext cx="8034430" cy="10043037"/>
          </a:xfrm>
          <a:custGeom>
            <a:avLst/>
            <a:gdLst/>
            <a:ahLst/>
            <a:cxnLst/>
            <a:rect l="l" t="t" r="r" b="b"/>
            <a:pathLst>
              <a:path w="8034430" h="10043037">
                <a:moveTo>
                  <a:pt x="0" y="0"/>
                </a:moveTo>
                <a:lnTo>
                  <a:pt x="8034429" y="0"/>
                </a:lnTo>
                <a:lnTo>
                  <a:pt x="8034429" y="10043037"/>
                </a:lnTo>
                <a:lnTo>
                  <a:pt x="0" y="10043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80794" y="72583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5134" y="91984"/>
            <a:ext cx="7315866" cy="2337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915"/>
              </a:lnSpc>
            </a:pPr>
            <a:r>
              <a:rPr lang="en-US" sz="13511" b="1" spc="-662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134" y="1724015"/>
            <a:ext cx="11018037" cy="2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15"/>
              </a:lnSpc>
            </a:pPr>
            <a:r>
              <a:rPr lang="en-US" sz="13511" spc="-662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134" y="3890071"/>
            <a:ext cx="11691827" cy="452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4357" lvl="1" indent="-212178" algn="l">
              <a:lnSpc>
                <a:spcPts val="4549"/>
              </a:lnSpc>
              <a:buFont typeface="Arial"/>
              <a:buChar char="•"/>
            </a:pPr>
            <a:r>
              <a:rPr lang="en-US" sz="257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Sophisticated Cyberattacks: Growing complexity challenges traditional IDS.</a:t>
            </a:r>
          </a:p>
          <a:p>
            <a:pPr marL="424357" lvl="1" indent="-212178" algn="l">
              <a:lnSpc>
                <a:spcPts val="4549"/>
              </a:lnSpc>
              <a:buFont typeface="Arial"/>
              <a:buChar char="•"/>
            </a:pPr>
            <a:r>
              <a:rPr lang="en-US" sz="257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Traditional IDS Issues: High false positives, struggles with new threats.</a:t>
            </a:r>
          </a:p>
          <a:p>
            <a:pPr marL="424357" lvl="1" indent="-212178" algn="l">
              <a:lnSpc>
                <a:spcPts val="4549"/>
              </a:lnSpc>
              <a:buFont typeface="Arial"/>
              <a:buChar char="•"/>
            </a:pPr>
            <a:r>
              <a:rPr lang="en-US" sz="257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Project Approach: Train ML models on CSE-CIC-2018 dataset.</a:t>
            </a:r>
          </a:p>
          <a:p>
            <a:pPr marL="424357" lvl="1" indent="-212178" algn="l">
              <a:lnSpc>
                <a:spcPts val="4549"/>
              </a:lnSpc>
              <a:spcBef>
                <a:spcPct val="0"/>
              </a:spcBef>
              <a:buFont typeface="Arial"/>
              <a:buChar char="•"/>
            </a:pPr>
            <a:r>
              <a:rPr lang="en-US" sz="257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Objective: Identify and use the most effective ML model/models for intrusion detection.</a:t>
            </a:r>
          </a:p>
          <a:p>
            <a:pPr algn="l">
              <a:lnSpc>
                <a:spcPts val="4549"/>
              </a:lnSpc>
              <a:spcBef>
                <a:spcPct val="0"/>
              </a:spcBef>
            </a:pPr>
            <a:endParaRPr lang="en-US" sz="2570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4439" y="8174000"/>
            <a:ext cx="7315200" cy="1103930"/>
          </a:xfrm>
          <a:custGeom>
            <a:avLst/>
            <a:gdLst/>
            <a:ahLst/>
            <a:cxnLst/>
            <a:rect l="l" t="t" r="r" b="b"/>
            <a:pathLst>
              <a:path w="7315200" h="110393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19547" y="2395183"/>
            <a:ext cx="5778818" cy="5778818"/>
          </a:xfrm>
          <a:custGeom>
            <a:avLst/>
            <a:gdLst/>
            <a:ahLst/>
            <a:cxnLst/>
            <a:rect l="l" t="t" r="r" b="b"/>
            <a:pathLst>
              <a:path w="5778818" h="5778818">
                <a:moveTo>
                  <a:pt x="0" y="0"/>
                </a:moveTo>
                <a:lnTo>
                  <a:pt x="5778818" y="0"/>
                </a:lnTo>
                <a:lnTo>
                  <a:pt x="5778818" y="5778817"/>
                </a:lnTo>
                <a:lnTo>
                  <a:pt x="0" y="5778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23442" y="405393"/>
            <a:ext cx="10747450" cy="160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51"/>
              </a:lnSpc>
            </a:pPr>
            <a:r>
              <a:rPr lang="en-US" sz="9465" b="1" spc="-46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Objectve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51254" y="2854271"/>
            <a:ext cx="11691827" cy="51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4357" lvl="1" indent="-212178" algn="l">
              <a:lnSpc>
                <a:spcPts val="4549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Develop ML-Based IDS: Use a CNN-ATTENTION-BiLSTM model and Random Forest model in hybrid architecture.</a:t>
            </a:r>
          </a:p>
          <a:p>
            <a:pPr marL="424357" lvl="1" indent="-212178" algn="l">
              <a:lnSpc>
                <a:spcPts val="4549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Analyze Network Traffic: Classify normal vs. malicious activities.</a:t>
            </a:r>
          </a:p>
          <a:p>
            <a:pPr marL="424357" lvl="1" indent="-212178" algn="l">
              <a:lnSpc>
                <a:spcPts val="4549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Dataset: Leverage CSECIC2018 dataset for training and testing.</a:t>
            </a:r>
          </a:p>
          <a:p>
            <a:pPr marL="424357" lvl="1" indent="-212178" algn="l">
              <a:lnSpc>
                <a:spcPts val="4549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Compare Models: Evaluate performance using accuracy, precision, recall, F1-score.</a:t>
            </a:r>
          </a:p>
          <a:p>
            <a:pPr marL="424357" lvl="1" indent="-212178" algn="l">
              <a:lnSpc>
                <a:spcPts val="4549"/>
              </a:lnSpc>
              <a:spcBef>
                <a:spcPct val="0"/>
              </a:spcBef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Goal: Identify and use best ML model for real-time detection with high accuracy and low false alarms.</a:t>
            </a:r>
          </a:p>
          <a:p>
            <a:pPr algn="l">
              <a:lnSpc>
                <a:spcPts val="4549"/>
              </a:lnSpc>
              <a:spcBef>
                <a:spcPct val="0"/>
              </a:spcBef>
            </a:pPr>
            <a:endParaRPr lang="en-US" sz="257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748453" y="-3194817"/>
            <a:ext cx="7021693" cy="7021693"/>
          </a:xfrm>
          <a:custGeom>
            <a:avLst/>
            <a:gdLst/>
            <a:ahLst/>
            <a:cxnLst/>
            <a:rect l="l" t="t" r="r" b="b"/>
            <a:pathLst>
              <a:path w="7021693" h="7021693">
                <a:moveTo>
                  <a:pt x="7021694" y="7021693"/>
                </a:moveTo>
                <a:lnTo>
                  <a:pt x="0" y="7021693"/>
                </a:lnTo>
                <a:lnTo>
                  <a:pt x="0" y="0"/>
                </a:lnTo>
                <a:lnTo>
                  <a:pt x="7021694" y="0"/>
                </a:lnTo>
                <a:lnTo>
                  <a:pt x="7021694" y="70216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7388" y="135054"/>
            <a:ext cx="10747450" cy="160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51"/>
              </a:lnSpc>
            </a:pPr>
            <a:r>
              <a:rPr lang="en-US" sz="9465" b="1" spc="-46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Methodology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3927" y="1541346"/>
            <a:ext cx="9694954" cy="581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2470" lvl="1" indent="-406235" algn="l">
              <a:lnSpc>
                <a:spcPts val="6660"/>
              </a:lnSpc>
              <a:buFont typeface="Arial"/>
              <a:buChar char="•"/>
            </a:pPr>
            <a:r>
              <a:rPr lang="en-US" sz="37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Hybrid Model</a:t>
            </a:r>
          </a:p>
          <a:p>
            <a:pPr marL="1624939" lvl="2" indent="-541646" algn="l">
              <a:lnSpc>
                <a:spcPts val="6660"/>
              </a:lnSpc>
              <a:buFont typeface="Arial"/>
              <a:buChar char="⚬"/>
            </a:pPr>
            <a:r>
              <a:rPr lang="en-US" sz="37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RF + CNN-BiLSTM-Attention</a:t>
            </a:r>
          </a:p>
          <a:p>
            <a:pPr marL="1624939" lvl="2" indent="-541646" algn="l">
              <a:lnSpc>
                <a:spcPts val="6660"/>
              </a:lnSpc>
              <a:buFont typeface="Arial"/>
              <a:buChar char="⚬"/>
            </a:pPr>
            <a:r>
              <a:rPr lang="en-US" sz="37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Weighted output combination</a:t>
            </a:r>
          </a:p>
          <a:p>
            <a:pPr marL="812470" lvl="1" indent="-406235" algn="l">
              <a:lnSpc>
                <a:spcPts val="6660"/>
              </a:lnSpc>
              <a:buFont typeface="Arial"/>
              <a:buChar char="•"/>
            </a:pPr>
            <a:r>
              <a:rPr lang="en-US" sz="37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CNN-BiLSTM-Attention</a:t>
            </a:r>
          </a:p>
          <a:p>
            <a:pPr marL="1624939" lvl="2" indent="-541646" algn="l">
              <a:lnSpc>
                <a:spcPts val="6660"/>
              </a:lnSpc>
              <a:buFont typeface="Arial"/>
              <a:buChar char="⚬"/>
            </a:pPr>
            <a:r>
              <a:rPr lang="en-US" sz="37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Detects temporal attack patterns</a:t>
            </a:r>
          </a:p>
          <a:p>
            <a:pPr algn="l">
              <a:lnSpc>
                <a:spcPts val="6660"/>
              </a:lnSpc>
            </a:pPr>
            <a:endParaRPr lang="en-US" sz="3763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900977" y="4784197"/>
            <a:ext cx="9694954" cy="581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2470" lvl="1" indent="-406235" algn="l">
              <a:lnSpc>
                <a:spcPts val="6660"/>
              </a:lnSpc>
              <a:buFont typeface="Arial"/>
              <a:buChar char="•"/>
            </a:pPr>
            <a:r>
              <a:rPr lang="en-US" sz="37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Random Forest</a:t>
            </a:r>
          </a:p>
          <a:p>
            <a:pPr marL="1624939" lvl="2" indent="-541646" algn="l">
              <a:lnSpc>
                <a:spcPts val="6660"/>
              </a:lnSpc>
              <a:buFont typeface="Arial"/>
              <a:buChar char="⚬"/>
            </a:pPr>
            <a:r>
              <a:rPr lang="en-US" sz="37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Fast, reliable classification</a:t>
            </a:r>
          </a:p>
          <a:p>
            <a:pPr marL="812470" lvl="1" indent="-406235" algn="l">
              <a:lnSpc>
                <a:spcPts val="6660"/>
              </a:lnSpc>
              <a:buFont typeface="Arial"/>
              <a:buChar char="•"/>
            </a:pPr>
            <a:r>
              <a:rPr lang="en-US" sz="37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Application</a:t>
            </a:r>
          </a:p>
          <a:p>
            <a:pPr marL="1624939" lvl="2" indent="-541646" algn="l">
              <a:lnSpc>
                <a:spcPts val="6660"/>
              </a:lnSpc>
              <a:buFont typeface="Arial"/>
              <a:buChar char="⚬"/>
            </a:pPr>
            <a:r>
              <a:rPr lang="en-US" sz="37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Python-based GUI</a:t>
            </a:r>
          </a:p>
          <a:p>
            <a:pPr marL="1624939" lvl="2" indent="-541646" algn="l">
              <a:lnSpc>
                <a:spcPts val="6660"/>
              </a:lnSpc>
              <a:buFont typeface="Arial"/>
              <a:buChar char="⚬"/>
            </a:pPr>
            <a:r>
              <a:rPr lang="en-US" sz="37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Live monitoring using PyShark</a:t>
            </a:r>
          </a:p>
          <a:p>
            <a:pPr marL="1624939" lvl="2" indent="-541646" algn="l">
              <a:lnSpc>
                <a:spcPts val="6660"/>
              </a:lnSpc>
              <a:buFont typeface="Arial"/>
              <a:buChar char="⚬"/>
            </a:pPr>
            <a:r>
              <a:rPr lang="en-US" sz="37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Integrated SIEM dashboard</a:t>
            </a:r>
          </a:p>
          <a:p>
            <a:pPr algn="l">
              <a:lnSpc>
                <a:spcPts val="6660"/>
              </a:lnSpc>
            </a:pPr>
            <a:endParaRPr lang="en-US" sz="3763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687371" y="7792476"/>
            <a:ext cx="5415191" cy="2707595"/>
          </a:xfrm>
          <a:custGeom>
            <a:avLst/>
            <a:gdLst/>
            <a:ahLst/>
            <a:cxnLst/>
            <a:rect l="l" t="t" r="r" b="b"/>
            <a:pathLst>
              <a:path w="5415191" h="2707595">
                <a:moveTo>
                  <a:pt x="0" y="0"/>
                </a:moveTo>
                <a:lnTo>
                  <a:pt x="5415191" y="0"/>
                </a:lnTo>
                <a:lnTo>
                  <a:pt x="5415191" y="2707595"/>
                </a:lnTo>
                <a:lnTo>
                  <a:pt x="0" y="2707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385193" y="-3194817"/>
            <a:ext cx="7021693" cy="7021693"/>
          </a:xfrm>
          <a:custGeom>
            <a:avLst/>
            <a:gdLst/>
            <a:ahLst/>
            <a:cxnLst/>
            <a:rect l="l" t="t" r="r" b="b"/>
            <a:pathLst>
              <a:path w="7021693" h="7021693">
                <a:moveTo>
                  <a:pt x="7021693" y="7021693"/>
                </a:moveTo>
                <a:lnTo>
                  <a:pt x="0" y="7021693"/>
                </a:lnTo>
                <a:lnTo>
                  <a:pt x="0" y="0"/>
                </a:lnTo>
                <a:lnTo>
                  <a:pt x="7021693" y="0"/>
                </a:lnTo>
                <a:lnTo>
                  <a:pt x="7021693" y="70216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87371" y="8438170"/>
            <a:ext cx="4123803" cy="2061902"/>
          </a:xfrm>
          <a:custGeom>
            <a:avLst/>
            <a:gdLst/>
            <a:ahLst/>
            <a:cxnLst/>
            <a:rect l="l" t="t" r="r" b="b"/>
            <a:pathLst>
              <a:path w="4123803" h="2061902">
                <a:moveTo>
                  <a:pt x="0" y="0"/>
                </a:moveTo>
                <a:lnTo>
                  <a:pt x="4123803" y="0"/>
                </a:lnTo>
                <a:lnTo>
                  <a:pt x="4123803" y="2061901"/>
                </a:lnTo>
                <a:lnTo>
                  <a:pt x="0" y="20619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02678" y="4480995"/>
            <a:ext cx="16938742" cy="3303055"/>
          </a:xfrm>
          <a:custGeom>
            <a:avLst/>
            <a:gdLst/>
            <a:ahLst/>
            <a:cxnLst/>
            <a:rect l="l" t="t" r="r" b="b"/>
            <a:pathLst>
              <a:path w="16938742" h="3303055">
                <a:moveTo>
                  <a:pt x="0" y="0"/>
                </a:moveTo>
                <a:lnTo>
                  <a:pt x="16938742" y="0"/>
                </a:lnTo>
                <a:lnTo>
                  <a:pt x="16938742" y="3303055"/>
                </a:lnTo>
                <a:lnTo>
                  <a:pt x="0" y="33030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7388" y="135054"/>
            <a:ext cx="10747450" cy="160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51"/>
              </a:lnSpc>
            </a:pPr>
            <a:r>
              <a:rPr lang="en-US" sz="9465" b="1" spc="-46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Methodology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678" y="1474671"/>
            <a:ext cx="8641322" cy="1032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96767" lvl="1" indent="-548383" algn="l">
              <a:lnSpc>
                <a:spcPts val="8991"/>
              </a:lnSpc>
              <a:buFont typeface="Arial"/>
              <a:buChar char="•"/>
            </a:pPr>
            <a:r>
              <a:rPr lang="en-US" sz="50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Solution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3326" y="3972393"/>
            <a:ext cx="15921348" cy="5910801"/>
          </a:xfrm>
          <a:custGeom>
            <a:avLst/>
            <a:gdLst/>
            <a:ahLst/>
            <a:cxnLst/>
            <a:rect l="l" t="t" r="r" b="b"/>
            <a:pathLst>
              <a:path w="15921348" h="5910801">
                <a:moveTo>
                  <a:pt x="0" y="0"/>
                </a:moveTo>
                <a:lnTo>
                  <a:pt x="15921348" y="0"/>
                </a:lnTo>
                <a:lnTo>
                  <a:pt x="15921348" y="5910801"/>
                </a:lnTo>
                <a:lnTo>
                  <a:pt x="0" y="5910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74644" y="666965"/>
            <a:ext cx="6486232" cy="2621685"/>
          </a:xfrm>
          <a:custGeom>
            <a:avLst/>
            <a:gdLst/>
            <a:ahLst/>
            <a:cxnLst/>
            <a:rect l="l" t="t" r="r" b="b"/>
            <a:pathLst>
              <a:path w="6486232" h="2621685">
                <a:moveTo>
                  <a:pt x="0" y="0"/>
                </a:moveTo>
                <a:lnTo>
                  <a:pt x="6486232" y="0"/>
                </a:lnTo>
                <a:lnTo>
                  <a:pt x="6486232" y="2621685"/>
                </a:lnTo>
                <a:lnTo>
                  <a:pt x="0" y="2621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281" r="-3057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7388" y="135054"/>
            <a:ext cx="10747450" cy="160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51"/>
              </a:lnSpc>
            </a:pPr>
            <a:r>
              <a:rPr lang="en-US" sz="9465" b="1" spc="-46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Model Training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5200" y="2379692"/>
            <a:ext cx="11691827" cy="103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7097" lvl="1" indent="-418548" algn="l">
              <a:lnSpc>
                <a:spcPts val="8974"/>
              </a:lnSpc>
              <a:spcBef>
                <a:spcPct val="0"/>
              </a:spcBef>
              <a:buFont typeface="Arial"/>
              <a:buChar char="•"/>
            </a:pPr>
            <a:r>
              <a:rPr lang="en-US" sz="50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CNN-ATTENTION-BiLSTM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9151" y="3285554"/>
            <a:ext cx="10146923" cy="4946625"/>
          </a:xfrm>
          <a:custGeom>
            <a:avLst/>
            <a:gdLst/>
            <a:ahLst/>
            <a:cxnLst/>
            <a:rect l="l" t="t" r="r" b="b"/>
            <a:pathLst>
              <a:path w="10146923" h="4946625">
                <a:moveTo>
                  <a:pt x="0" y="0"/>
                </a:moveTo>
                <a:lnTo>
                  <a:pt x="10146923" y="0"/>
                </a:lnTo>
                <a:lnTo>
                  <a:pt x="10146923" y="4946625"/>
                </a:lnTo>
                <a:lnTo>
                  <a:pt x="0" y="4946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49005" y="2841706"/>
            <a:ext cx="6518794" cy="5834320"/>
          </a:xfrm>
          <a:custGeom>
            <a:avLst/>
            <a:gdLst/>
            <a:ahLst/>
            <a:cxnLst/>
            <a:rect l="l" t="t" r="r" b="b"/>
            <a:pathLst>
              <a:path w="6518794" h="5834320">
                <a:moveTo>
                  <a:pt x="0" y="0"/>
                </a:moveTo>
                <a:lnTo>
                  <a:pt x="6518793" y="0"/>
                </a:lnTo>
                <a:lnTo>
                  <a:pt x="6518793" y="5834321"/>
                </a:lnTo>
                <a:lnTo>
                  <a:pt x="0" y="58343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9334" y="153046"/>
            <a:ext cx="11691827" cy="103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7097" lvl="1" indent="-418548" algn="l">
              <a:lnSpc>
                <a:spcPts val="8974"/>
              </a:lnSpc>
              <a:spcBef>
                <a:spcPct val="0"/>
              </a:spcBef>
              <a:buFont typeface="Arial"/>
              <a:buChar char="•"/>
            </a:pPr>
            <a:r>
              <a:rPr lang="en-US" sz="50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Random Forest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5898" y="1215030"/>
            <a:ext cx="11691827" cy="68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5"/>
              </a:lnSpc>
            </a:pPr>
            <a:r>
              <a:rPr lang="en-US" sz="33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Why Random Forest?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9032" y="2804482"/>
            <a:ext cx="10297875" cy="5921278"/>
          </a:xfrm>
          <a:custGeom>
            <a:avLst/>
            <a:gdLst/>
            <a:ahLst/>
            <a:cxnLst/>
            <a:rect l="l" t="t" r="r" b="b"/>
            <a:pathLst>
              <a:path w="10297875" h="5921278">
                <a:moveTo>
                  <a:pt x="0" y="0"/>
                </a:moveTo>
                <a:lnTo>
                  <a:pt x="10297875" y="0"/>
                </a:lnTo>
                <a:lnTo>
                  <a:pt x="10297875" y="5921278"/>
                </a:lnTo>
                <a:lnTo>
                  <a:pt x="0" y="5921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39601" y="258374"/>
            <a:ext cx="9727306" cy="1388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9"/>
              </a:lnSpc>
            </a:pPr>
            <a:r>
              <a:rPr lang="en-US" sz="8206" b="1" spc="-40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Application UI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50261" y="3883789"/>
            <a:ext cx="6579202" cy="391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719" lvl="1" indent="-319860" algn="l">
              <a:lnSpc>
                <a:spcPts val="5244"/>
              </a:lnSpc>
              <a:buFont typeface="Arial"/>
              <a:buChar char="•"/>
            </a:pPr>
            <a:r>
              <a:rPr lang="en-US" sz="29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Real-time traffic monitoring</a:t>
            </a:r>
          </a:p>
          <a:p>
            <a:pPr marL="639719" lvl="1" indent="-319860" algn="l">
              <a:lnSpc>
                <a:spcPts val="5244"/>
              </a:lnSpc>
              <a:buFont typeface="Arial"/>
              <a:buChar char="•"/>
            </a:pPr>
            <a:r>
              <a:rPr lang="en-US" sz="29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Benign/Malicious classification</a:t>
            </a:r>
          </a:p>
          <a:p>
            <a:pPr marL="639719" lvl="1" indent="-319860" algn="l">
              <a:lnSpc>
                <a:spcPts val="5244"/>
              </a:lnSpc>
              <a:buFont typeface="Arial"/>
              <a:buChar char="•"/>
            </a:pPr>
            <a:r>
              <a:rPr lang="en-US" sz="29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Alert levels</a:t>
            </a:r>
          </a:p>
          <a:p>
            <a:pPr marL="639719" lvl="1" indent="-319860" algn="l">
              <a:lnSpc>
                <a:spcPts val="5244"/>
              </a:lnSpc>
              <a:buFont typeface="Arial"/>
              <a:buChar char="•"/>
            </a:pPr>
            <a:r>
              <a:rPr lang="en-US" sz="29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Flags from CNN, RF, Suricata</a:t>
            </a:r>
          </a:p>
          <a:p>
            <a:pPr algn="l">
              <a:lnSpc>
                <a:spcPts val="5244"/>
              </a:lnSpc>
            </a:pPr>
            <a:endParaRPr lang="en-US" sz="2963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25837"/>
            <a:ext cx="2082324" cy="662875"/>
            <a:chOff x="0" y="0"/>
            <a:chExt cx="548431" cy="1745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8431" cy="174584"/>
            </a:xfrm>
            <a:custGeom>
              <a:avLst/>
              <a:gdLst/>
              <a:ahLst/>
              <a:cxnLst/>
              <a:rect l="l" t="t" r="r" b="b"/>
              <a:pathLst>
                <a:path w="548431" h="174584">
                  <a:moveTo>
                    <a:pt x="87292" y="0"/>
                  </a:moveTo>
                  <a:lnTo>
                    <a:pt x="461139" y="0"/>
                  </a:lnTo>
                  <a:cubicBezTo>
                    <a:pt x="484290" y="0"/>
                    <a:pt x="506493" y="9197"/>
                    <a:pt x="522864" y="25567"/>
                  </a:cubicBezTo>
                  <a:cubicBezTo>
                    <a:pt x="539234" y="41938"/>
                    <a:pt x="548431" y="64141"/>
                    <a:pt x="548431" y="87292"/>
                  </a:cubicBezTo>
                  <a:lnTo>
                    <a:pt x="548431" y="87292"/>
                  </a:lnTo>
                  <a:cubicBezTo>
                    <a:pt x="548431" y="110444"/>
                    <a:pt x="539234" y="132647"/>
                    <a:pt x="522864" y="149017"/>
                  </a:cubicBezTo>
                  <a:cubicBezTo>
                    <a:pt x="506493" y="165388"/>
                    <a:pt x="484290" y="174584"/>
                    <a:pt x="461139" y="174584"/>
                  </a:cubicBezTo>
                  <a:lnTo>
                    <a:pt x="87292" y="174584"/>
                  </a:lnTo>
                  <a:cubicBezTo>
                    <a:pt x="64141" y="174584"/>
                    <a:pt x="41938" y="165388"/>
                    <a:pt x="25567" y="149017"/>
                  </a:cubicBezTo>
                  <a:cubicBezTo>
                    <a:pt x="9197" y="132647"/>
                    <a:pt x="0" y="110444"/>
                    <a:pt x="0" y="87292"/>
                  </a:cubicBezTo>
                  <a:lnTo>
                    <a:pt x="0" y="87292"/>
                  </a:lnTo>
                  <a:cubicBezTo>
                    <a:pt x="0" y="64141"/>
                    <a:pt x="9197" y="41938"/>
                    <a:pt x="25567" y="25567"/>
                  </a:cubicBezTo>
                  <a:cubicBezTo>
                    <a:pt x="41938" y="9197"/>
                    <a:pt x="64141" y="0"/>
                    <a:pt x="872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D9AC2">
                    <a:alpha val="100000"/>
                  </a:srgbClr>
                </a:gs>
                <a:gs pos="100000">
                  <a:srgbClr val="5039A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8431" cy="212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36564" y="803608"/>
            <a:ext cx="2266597" cy="45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</a:pPr>
            <a:r>
              <a:rPr lang="en-US" sz="2706" b="1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Batch 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99451" y="2091080"/>
            <a:ext cx="7877899" cy="2663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28"/>
              </a:lnSpc>
            </a:pPr>
            <a:r>
              <a:rPr lang="en-US" sz="15663" b="1" spc="-76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Thank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9451" y="3662070"/>
            <a:ext cx="7448908" cy="407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35"/>
              </a:lnSpc>
            </a:pPr>
            <a:r>
              <a:rPr lang="en-US" sz="23810" spc="-1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You</a:t>
            </a:r>
          </a:p>
        </p:txBody>
      </p:sp>
      <p:sp>
        <p:nvSpPr>
          <p:cNvPr id="8" name="Freeform 8"/>
          <p:cNvSpPr/>
          <p:nvPr/>
        </p:nvSpPr>
        <p:spPr>
          <a:xfrm>
            <a:off x="11276212" y="1461325"/>
            <a:ext cx="5983088" cy="5993986"/>
          </a:xfrm>
          <a:custGeom>
            <a:avLst/>
            <a:gdLst/>
            <a:ahLst/>
            <a:cxnLst/>
            <a:rect l="l" t="t" r="r" b="b"/>
            <a:pathLst>
              <a:path w="5983088" h="5993986">
                <a:moveTo>
                  <a:pt x="0" y="0"/>
                </a:moveTo>
                <a:lnTo>
                  <a:pt x="5983088" y="0"/>
                </a:lnTo>
                <a:lnTo>
                  <a:pt x="5983088" y="5993986"/>
                </a:lnTo>
                <a:lnTo>
                  <a:pt x="0" y="599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848359" y="7455311"/>
            <a:ext cx="9859114" cy="1487830"/>
          </a:xfrm>
          <a:custGeom>
            <a:avLst/>
            <a:gdLst/>
            <a:ahLst/>
            <a:cxnLst/>
            <a:rect l="l" t="t" r="r" b="b"/>
            <a:pathLst>
              <a:path w="9859114" h="1487830">
                <a:moveTo>
                  <a:pt x="9859113" y="0"/>
                </a:moveTo>
                <a:lnTo>
                  <a:pt x="0" y="0"/>
                </a:lnTo>
                <a:lnTo>
                  <a:pt x="0" y="1487830"/>
                </a:lnTo>
                <a:lnTo>
                  <a:pt x="9859113" y="1487830"/>
                </a:lnTo>
                <a:lnTo>
                  <a:pt x="98591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205</Words>
  <Application>Microsoft Office PowerPoint</Application>
  <PresentationFormat>Custom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Arial</vt:lpstr>
      <vt:lpstr>Garet</vt:lpstr>
      <vt:lpstr>Garet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</dc:title>
  <dc:creator>Nabeel Mohd</dc:creator>
  <cp:lastModifiedBy>Nabeel Mohd</cp:lastModifiedBy>
  <cp:revision>3</cp:revision>
  <dcterms:created xsi:type="dcterms:W3CDTF">2006-08-16T00:00:00Z</dcterms:created>
  <dcterms:modified xsi:type="dcterms:W3CDTF">2025-12-05T20:14:15Z</dcterms:modified>
  <dc:identifier>DAGypTfu7xI</dc:identifier>
</cp:coreProperties>
</file>